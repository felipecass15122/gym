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9" r:id="rId32"/>
    <p:sldId id="270" r:id="rId3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Urbanist SemiBold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BB7E58-54AC-4B72-977F-6E2593EA213E}">
  <a:tblStyle styleId="{CEBB7E58-54AC-4B72-977F-6E2593EA213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UrbanistSemiBold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italic.fntdata"/><Relationship Id="rId25" Type="http://schemas.openxmlformats.org/officeDocument/2006/relationships/font" Target="fonts/UrbanistSemiBold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32" Type="http://schemas.openxmlformats.org/officeDocument/2006/relationships/slide" Target="slides/slide14.xml"/><Relationship Id="rId33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18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27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12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27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9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05563" y="2567880"/>
            <a:ext cx="69808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 xml:space="preserve">GYM </a:t>
            </a:r>
            <a:r>
              <a:rPr b="1" i="0" lang="en-US" sz="6000" u="none" cap="none" strike="noStrike">
                <a:solidFill>
                  <a:srgbClr val="FF6B00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71775" y="3672780"/>
            <a:ext cx="664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 xml:space="preserve">Planejamento de Avaliação de IHC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5025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05025"/>
            <a:ext cx="3429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05025"/>
            <a:ext cx="3429000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835943" y="3371850"/>
            <a:ext cx="9001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Treinos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38385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Registro completo de exercícios, séries, cargas (kg) e repetições organizados por diferentes planos de treino do usuário.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395912" y="3371850"/>
            <a:ext cx="14001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Calendário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76775" y="38385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Módulo de planejamento mensal avançado, com atribuição flexível de dias e recurso de gerador de ciclos automáticos.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290923" y="3371850"/>
            <a:ext cx="123015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Progresso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86775" y="38385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Painel de evolução com ranking de força (estimativa de 1RM), volume total e integração direta com wearables (Galaxy Fit 3).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2625" y="2552700"/>
            <a:ext cx="666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2637" y="2552700"/>
            <a:ext cx="4667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9300" y="255270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699475"/>
            <a:ext cx="1160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Visão Geral do Sistema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966125"/>
            <a:ext cx="5200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Contexto de Uso</a:t>
            </a:r>
            <a:endParaRPr sz="2500"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31025" y="2085950"/>
            <a:ext cx="52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6B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 xml:space="preserve">Acompanhar Desempenho 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790825"/>
            <a:ext cx="4953000" cy="3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 xml:space="preserve">O aplicativo </a:t>
            </a:r>
            <a:r>
              <a:rPr b="1" lang="en-US" sz="1300">
                <a:solidFill>
                  <a:schemeClr val="lt1"/>
                </a:solidFill>
              </a:rPr>
              <a:t>GYM GAIN</a:t>
            </a:r>
            <a:r>
              <a:rPr lang="en-US" sz="1300">
                <a:solidFill>
                  <a:schemeClr val="lt1"/>
                </a:solidFill>
              </a:rPr>
              <a:t xml:space="preserve"> surgiu da necessidade de uma solução completa para o acompanhamento eficiente de treinos, diante da ausência de plataformas que integrem, de forma prática, todos os recursos essenciais para esse propósito.</a:t>
            </a:r>
            <a:endParaRPr sz="13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A aplicação foi desenvolvida com foco na simplicidade e agilidade, permitindo ao usuário registrar de maneira rápida todas as informações relevantes de seus treinos. A partir desses dados, o sistema gera relatórios detalhados que possibilitam a análise da performance ao longo do período definido pelo próprio usuário, contribuindo para um acompanhamento mais preciso e orientado à evolução.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809750" y="221932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Determine os objetivos: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Validar eficácia de registro, terminologia e usabilidade geral.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809750" y="2762250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Explore as perguntas: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O fluxo é claro? A nomenclatura (FS/WS) é compreensível?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809750" y="330517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Choose os métodos: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Uso combinado de Avaliação Heurística e Testes de Usabilidade.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809750" y="3848100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Identifique questões práticas: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Estruturar recrutamento, perfil dos usuários e métricas.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809750" y="439102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Decida sobre questões éticas: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Aplicação do Termo de Consentimento (TCLE) com segurança.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809750" y="4933950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Evaluate (Avalie):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Interpretação final de dados, consolidação e apresentação das falhas.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2336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7765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31946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38623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3500" y="440531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33500" y="4948237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33325" y="853275"/>
            <a:ext cx="1160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 Framework DECIDE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47850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57375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1047750" y="21526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Eficácia no Registro: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Verificar se usuários preenchem dados do treino sem erros e sem auxílio externo.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47750" y="300037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Acessibilidade Técnica: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Identificar se jargões (como "FS", "WS", "1RM") são compreendidos intuitivamente.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047750" y="38481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Fluidez de Navegação: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Analisar a usabilidade do módulo de Calendário na atribuição dinâmica de treinos.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047750" y="46958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Satisfação Global: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Medir o nível de aprovação do UX e conformidade com as Heurísticas de Nielsen.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6693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1466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6238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10112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784825"/>
            <a:ext cx="1160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Objetivos da Avaliação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11049000" cy="418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4" name="Google Shape;154;p18"/>
          <p:cNvGraphicFramePr/>
          <p:nvPr/>
        </p:nvGraphicFramePr>
        <p:xfrm>
          <a:off x="581025" y="1766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{CEBB7E58-54AC-4B72-977F-6E2593EA213E}</a:tableStyleId>
              </a:tblPr>
              <a:tblGrid>
                <a:gridCol w="1927175"/>
                <a:gridCol w="2122000"/>
                <a:gridCol w="4049025"/>
                <a:gridCol w="2931775"/>
              </a:tblGrid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Dimensão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Módulo Afetado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Critério de Sucesso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Critério de Falha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Aprendizagem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Treinos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≥ 80% adicionam exercícios sem auxílio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 xml:space="preserve"> &lt; 60% completam a tarefa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Aprendizagem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Calendário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≥ 3 de 5 localizam o Gerador de Ciclo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≤ 1 de 5 encontra a função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Eficiência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Treinos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Registro da série concluído em ≤ 45s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Tempo de registro &gt; 90s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3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Erros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Geral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 cliques acidentais em ações críticas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≥ 2 participantes falham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9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Satisfação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Geral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Score médio do SUS ≥ 68 (Positivo)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Score médio do SUS &lt; 51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8"/>
          <p:cNvSpPr/>
          <p:nvPr/>
        </p:nvSpPr>
        <p:spPr>
          <a:xfrm>
            <a:off x="581025" y="2447925"/>
            <a:ext cx="1927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2508200" y="2447925"/>
            <a:ext cx="212199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630191" y="2447925"/>
            <a:ext cx="40490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8679209" y="2447925"/>
            <a:ext cx="293176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81025" y="3143250"/>
            <a:ext cx="1927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2508200" y="3143250"/>
            <a:ext cx="212199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630191" y="3143250"/>
            <a:ext cx="40490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8679209" y="3143250"/>
            <a:ext cx="293176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581025" y="3838575"/>
            <a:ext cx="1927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508200" y="3838575"/>
            <a:ext cx="212199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630191" y="3838575"/>
            <a:ext cx="40490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8679209" y="3838575"/>
            <a:ext cx="293176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581025" y="4533900"/>
            <a:ext cx="1927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2508200" y="4533900"/>
            <a:ext cx="212199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4630191" y="4533900"/>
            <a:ext cx="40490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679209" y="4533900"/>
            <a:ext cx="293176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81025" y="5229225"/>
            <a:ext cx="1927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2508200" y="5229225"/>
            <a:ext cx="212199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4630191" y="5229225"/>
            <a:ext cx="404901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679209" y="5229225"/>
            <a:ext cx="293176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571500"/>
            <a:ext cx="11601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Critérios de Avaliação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52387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38375"/>
            <a:ext cx="523875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962025" y="262890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6B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Avaliação Heurística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62025" y="3095625"/>
            <a:ext cx="44577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Método de inspeção sem a participação de usuários finais. Três avaliadores especialistas mapearão minuciosamente as interfaces do aplicativo GYM GAIN baseados nas 10 Heurísticas de Nielsen, classificando a severidade de cada violação encontrada (escala 0-4).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772275" y="2781300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6B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Teste de Usabilidade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772275" y="3248025"/>
            <a:ext cx="44577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Método empírico com a participação de ate </a:t>
            </a: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3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usuários reais (iniciantes a experientes). Utilizará o protocolo </a:t>
            </a:r>
            <a:r>
              <a:rPr b="0" i="1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Think-Aloud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durante tarefas </a:t>
            </a: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 uso real</a:t>
            </a:r>
            <a:endParaRPr sz="1500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para observar a interação genuína, complementado pela aplicação do questionário padronizado SUS </a:t>
            </a: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pós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</a:t>
            </a:r>
            <a:r>
              <a:rPr lang="en-US" sz="15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treino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763475"/>
            <a:ext cx="11601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Métodos Escolhidos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47850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57375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1047750" y="200025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Consentimento Digital: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O Termo de Consentimento Livre e Esclarecido (TCLE) será assinado eletronicamente.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047750" y="284797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Participação Voluntária: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O usuário tem liberdade total para interromper o teste a qualquer momento sem ônus.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047750" y="369570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Anonimato Garantido: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Os dados e identidade coletados não serão divulgados, usados apenas para fins acadêmicos.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145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86226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709987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71500" y="742150"/>
            <a:ext cx="11601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Questões Éticas e TCLE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71500" y="2876550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6B00"/>
                </a:solidFill>
                <a:latin typeface="Urbanist"/>
                <a:ea typeface="Urbanist"/>
                <a:cs typeface="Urbanist"/>
                <a:sym typeface="Urbanist"/>
              </a:rPr>
              <a:t>08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4495800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Avaliadores e Usuários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381750" y="253781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6B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Abordagem Mista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81750" y="3004542"/>
            <a:ext cx="52389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Combinamos 3 especialistas na Avaliação Heurística para varredura técnica profunda e </a:t>
            </a:r>
            <a:r>
              <a:rPr lang="en-US" sz="16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usuários reais no teste Think-Aloud,</a:t>
            </a:r>
            <a:r>
              <a:rPr lang="en-US" sz="165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visando usuários avançados na academia</a:t>
            </a: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Este formato é respaldado pela literatura (Nielsen, 1994) para otimizar a detecção, capturando até 85% das falhas críticas de usabilidade no aplicativo.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Escopo Prático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9700"/>
            <a:ext cx="110490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1123950" y="4972050"/>
            <a:ext cx="9944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 questionário padronizado System Usability Scale quantificará a satisfação final. Nosso critério primário de sucesso estipula que a média do GYM GAIN alcance ou ultrapasse a marca de 68 pontos (Bangor et al., 2009).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Métricas de Avaliação: SUS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/>
          <p:nvPr/>
        </p:nvSpPr>
        <p:spPr>
          <a:xfrm>
            <a:off x="571500" y="4067175"/>
            <a:ext cx="1104900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507968" y="4419600"/>
            <a:ext cx="266830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09/04 — Planejamento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571500" y="5124450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Entrega e formalização do documento base DECIDE com todas as diretrizes.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3343888" y="2295525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30/04 — Heurísticas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3407419" y="26955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Início das avaliações técnicas individuais feitas pelos três especialistas (M1).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179808" y="4419600"/>
            <a:ext cx="266830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12/05 — Testes (Usuário)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243339" y="5124450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Execução monitorada do protocolo Think-Aloud com os cinco participantes (M2).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015728" y="2295525"/>
            <a:ext cx="26683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02/06 — Resultados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079259" y="2695575"/>
            <a:ext cx="2541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Fase final de consolidação, interpretação de dados e apresentação de melhorias.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1727820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563740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7399659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10235579" y="397192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B0F19"/>
          </a:solidFill>
          <a:ln cap="flat" cmpd="sng" w="38100">
            <a:solidFill>
              <a:srgbClr val="FF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Cronograma de Avaliação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295275" y="2073622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6B00"/>
                </a:solidFill>
                <a:latin typeface="Urbanist"/>
                <a:ea typeface="Urbanist"/>
                <a:cs typeface="Urbanist"/>
                <a:sym typeface="Urbanist"/>
              </a:rPr>
              <a:t>Dúvidas e Discussões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71500" y="3178522"/>
            <a:ext cx="11049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 projeto de usabilidade do GYM GAIN está aberto a comentários e sugestões.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 Agradecemos a atenção de todos.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450815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Emmanuel, Felipe, Gustavo</a:t>
            </a:r>
            <a:r>
              <a:rPr b="1" i="0" lang="en-US" sz="18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| Equipe de Avaliação de IHC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/>
          <p:nvPr/>
        </p:nvSpPr>
        <p:spPr>
          <a:xfrm>
            <a:off x="766762" y="2283321"/>
            <a:ext cx="106584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766762" y="3068091"/>
            <a:ext cx="106584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766762" y="3852862"/>
            <a:ext cx="106584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766762" y="3058566"/>
            <a:ext cx="10658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766762" y="3058566"/>
            <a:ext cx="10658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66762" y="3843337"/>
            <a:ext cx="10658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766762" y="3843337"/>
            <a:ext cx="10658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766762" y="4628108"/>
            <a:ext cx="10658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766762" y="4628108"/>
            <a:ext cx="106584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762" y="24327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1862137" y="2426196"/>
            <a:ext cx="95631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https://framerusercontent.com/images/0tixt8udman26SlTGCKN7kLfv0s.jpg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862137" y="2671911"/>
            <a:ext cx="9563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setgraph.app</a:t>
            </a:r>
            <a:endParaRPr/>
          </a:p>
        </p:txBody>
      </p:sp>
      <p:pic>
        <p:nvPicPr>
          <p:cNvPr descr="image.png" id="264" name="Google Shape;26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762" y="32175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862137" y="3210966"/>
            <a:ext cx="95631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https://cdn.dribbble.com/userupload/3670222/file/still-f3575f2a03bc60e953101e22522dc60b.png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862137" y="3456682"/>
            <a:ext cx="9563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dribbble.com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6762" y="40022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1862137" y="3995737"/>
            <a:ext cx="95631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https://images.ctfassets.net/0jnmtsdzg6p5/4GSPcvcpIZpsXsZ7F0EXTW/411b1bd2c8072d12cf1065974ce7087a/ds-iam-og-image-en-gb.png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862137" y="4241452"/>
            <a:ext cx="9563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www.docusign.com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6762" y="47870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862137" y="4780508"/>
            <a:ext cx="95631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https://png.pngtree.com/thumb_back/fh260/background/20251025/pngtree-black-dumbbell-with-weights-on-either-end-resting-a-reflective-surface-image_20016123.webp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862137" y="5026223"/>
            <a:ext cx="95631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 xml:space="preserve"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le"/>
          <p:cNvSpPr txBox="1"/>
          <p:nvPr/>
        </p:nvSpPr>
        <p:spPr>
          <a:xfrm>
            <a:off x="571500" y="457200"/>
            <a:ext cx="11049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Heurísticas de Nielsen</a:t>
            </a:r>
          </a:p>
        </p:txBody>
      </p:sp>
      <p:sp>
        <p:nvSpPr>
          <p:cNvPr id="302" name="Bar"/>
          <p:cNvSpPr>
            <a:spLocks noChangeArrowheads="1"/>
          </p:cNvSpPr>
          <p:nvPr/>
        </p:nvSpPr>
        <p:spPr>
          <a:xfrm>
            <a:off x="571500" y="1066800"/>
            <a:ext cx="2286000" cy="635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LH1"/>
          <p:cNvSpPr txBox="1"/>
          <p:nvPr/>
        </p:nvSpPr>
        <p:spPr>
          <a:xfrm>
            <a:off x="571500" y="1200150"/>
            <a:ext cx="548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Urbanist SemiBold"/>
                <a:ea typeface="Urbanist SemiBold"/>
                <a:cs typeface="Urbanist SemiBold"/>
              </a:rPr>
              <a:t>■  Definição</a:t>
            </a:r>
          </a:p>
        </p:txBody>
      </p:sp>
      <p:sp>
        <p:nvSpPr>
          <p:cNvPr id="304" name="LB1"/>
          <p:cNvSpPr txBox="1"/>
          <p:nvPr/>
        </p:nvSpPr>
        <p:spPr>
          <a:xfrm>
            <a:off x="571500" y="1590675"/>
            <a:ext cx="5486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 xml:space="preserve">Método de </a:t>
            </a:r>
            <a:r>
              <a:rPr b="1" lang="pt-BR" sz="1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</a:rPr>
              <a:t>inspeção sem usuários finais</a:t>
            </a:r>
            <a:r>
              <a:rPr lang="pt-BR" sz="14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 xml:space="preserve">. Especialistas avaliam a interface com base nas </a:t>
            </a:r>
            <a:r>
              <a:rPr b="1" lang="pt-BR" sz="14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>10 Heurísticas de Nielsen (1990)</a:t>
            </a:r>
            <a:r>
              <a:rPr lang="pt-BR" sz="14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, identificando violações de usabilidade e classificando sua gravidade.</a:t>
            </a:r>
          </a:p>
        </p:txBody>
      </p:sp>
      <p:sp>
        <p:nvSpPr>
          <p:cNvPr id="305" name="LH2"/>
          <p:cNvSpPr txBox="1"/>
          <p:nvPr/>
        </p:nvSpPr>
        <p:spPr>
          <a:xfrm>
            <a:off x="571500" y="3150000"/>
            <a:ext cx="548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Urbanist SemiBold"/>
                <a:ea typeface="Urbanist SemiBold"/>
                <a:cs typeface="Urbanist SemiBold"/>
              </a:rPr>
              <a:t>■  Por que foi escolhida?</a:t>
            </a:r>
          </a:p>
        </p:txBody>
      </p:sp>
      <p:sp>
        <p:nvSpPr>
          <p:cNvPr id="306" name="LB2"/>
          <p:cNvSpPr txBox="1"/>
          <p:nvPr/>
        </p:nvSpPr>
        <p:spPr>
          <a:xfrm>
            <a:off x="571500" y="3530000"/>
            <a:ext cx="5486400" cy="2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22860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har char="‣"/>
            </a:pPr>
            <a:r>
              <a:rPr lang="pt-BR" sz="14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Alta razão custo-benefício: rápida e econômica</a:t>
            </a:r>
          </a:p>
          <a:p>
            <a:pPr indent="0" marL="22860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har char="‣"/>
            </a:pPr>
            <a:r>
              <a:rPr lang="pt-BR" sz="14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Não requer recrutamento de usuários na fase inicial</a:t>
            </a:r>
          </a:p>
          <a:p>
            <a:pPr indent="0" marL="22860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har char="‣"/>
            </a:pPr>
            <a:r>
              <a:rPr lang="pt-BR" sz="14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 xml:space="preserve">Detecta até </a:t>
            </a:r>
            <a:r>
              <a:rPr b="1" lang="pt-BR" sz="14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>75% dos problemas</a:t>
            </a:r>
            <a:r>
              <a:rPr lang="pt-BR" sz="14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 xml:space="preserve"> com 3–5 avaliadores (Nielsen, 1994)</a:t>
            </a:r>
          </a:p>
          <a:p>
            <a:pPr indent="0" marL="228600"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har char="‣"/>
            </a:pPr>
            <a:r>
              <a:rPr lang="pt-BR" sz="14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Complementa o Teste de Usabilidade com visão especializada</a:t>
            </a:r>
          </a:p>
        </p:txBody>
      </p:sp>
      <p:sp>
        <p:nvSpPr>
          <p:cNvPr id="307" name="Sep"/>
          <p:cNvSpPr>
            <a:spLocks noChangeArrowheads="1"/>
          </p:cNvSpPr>
          <p:nvPr/>
        </p:nvSpPr>
        <p:spPr>
          <a:xfrm>
            <a:off x="6248700" y="1200150"/>
            <a:ext cx="63500" cy="4876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8" name="RH"/>
          <p:cNvSpPr txBox="1"/>
          <p:nvPr/>
        </p:nvSpPr>
        <p:spPr>
          <a:xfrm>
            <a:off x="6477000" y="1200150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Urbanist SemiBold"/>
                <a:ea typeface="Urbanist SemiBold"/>
                <a:cs typeface="Urbanist SemiBold"/>
              </a:rPr>
              <a:t>■  Passo a Passo</a:t>
            </a:r>
          </a:p>
        </p:txBody>
      </p:sp>
      <p:sp>
        <p:nvSpPr>
          <p:cNvPr id="309" name="RB"/>
          <p:cNvSpPr txBox="1"/>
          <p:nvPr/>
        </p:nvSpPr>
        <p:spPr>
          <a:xfrm>
            <a:off x="6477000" y="1590675"/>
            <a:ext cx="51435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01 </a:t>
            </a:r>
            <a:r>
              <a:rPr b="1" lang="pt-BR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</a:rPr>
              <a:t>Seleção dos avaliadores</a:t>
            </a:r>
            <a:r>
              <a:rPr lang="pt-BR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</a:rPr>
              <a:t xml:space="preserve">  —  3 especialistas independentes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02 </a:t>
            </a:r>
            <a:r>
              <a:rPr b="1" lang="pt-BR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</a:rPr>
              <a:t>Avaliação individual</a:t>
            </a:r>
            <a:r>
              <a:rPr lang="pt-BR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</a:rPr>
              <a:t xml:space="preserve">  —  cada avaliador percorre as telas do GYM GAIN sem interação entre si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03 </a:t>
            </a:r>
            <a:r>
              <a:rPr b="1" lang="pt-BR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</a:rPr>
              <a:t>Registro das violações</a:t>
            </a:r>
            <a:r>
              <a:rPr lang="pt-BR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</a:rPr>
              <a:t xml:space="preserve">  —  documenta problemas por heurística infringida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04 </a:t>
            </a:r>
            <a:r>
              <a:rPr b="1" lang="pt-BR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</a:rPr>
              <a:t>Classificação de severidade</a:t>
            </a:r>
            <a:r>
              <a:rPr lang="pt-BR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</a:rPr>
              <a:t xml:space="preserve">  —  escala 0 (sem impacto) a 4 (catastrófico)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05 </a:t>
            </a:r>
            <a:r>
              <a:rPr b="1" lang="pt-BR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</a:rPr>
              <a:t>Consolidação e relatório</a:t>
            </a:r>
            <a:r>
              <a:rPr lang="pt-BR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</a:rPr>
              <a:t xml:space="preserve">  —  reunião dos achados e priorização de melhorias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itle"/>
          <p:cNvSpPr txBox="1"/>
          <p:nvPr/>
        </p:nvSpPr>
        <p:spPr>
          <a:xfrm>
            <a:off x="571500" y="457200"/>
            <a:ext cx="11049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</a:rPr>
              <a:t>Formulário de Avaliação do Usuário</a:t>
            </a:r>
          </a:p>
        </p:txBody>
      </p:sp>
      <p:sp>
        <p:nvSpPr>
          <p:cNvPr id="402" name="Bar"/>
          <p:cNvSpPr>
            <a:spLocks noChangeArrowheads="1"/>
          </p:cNvSpPr>
          <p:nvPr/>
        </p:nvSpPr>
        <p:spPr>
          <a:xfrm>
            <a:off x="571500" y="1066800"/>
            <a:ext cx="2286000" cy="635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3" name="Sub"/>
          <p:cNvSpPr txBox="1"/>
          <p:nvPr/>
        </p:nvSpPr>
        <p:spPr>
          <a:xfrm>
            <a:off x="571500" y="1143000"/>
            <a:ext cx="11049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</a:rPr>
              <a:t>Aplicado após o Teste de Usabilidade  •  GYM GAIN — Avaliação de IHC</a:t>
            </a:r>
          </a:p>
        </p:txBody>
      </p:sp>
      <p:sp>
        <p:nvSpPr>
          <p:cNvPr id="404" name="LH"/>
          <p:cNvSpPr txBox="1"/>
          <p:nvPr/>
        </p:nvSpPr>
        <p:spPr>
          <a:xfrm>
            <a:off x="571500" y="1552800"/>
            <a:ext cx="548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Urbanist SemiBold"/>
                <a:ea typeface="Urbanist SemiBold"/>
                <a:cs typeface="Urbanist SemiBold"/>
              </a:rPr>
              <a:t>■  Perguntas Objetivas  (1–5)</a:t>
            </a:r>
          </a:p>
        </p:txBody>
      </p:sp>
      <p:sp>
        <p:nvSpPr>
          <p:cNvPr id="405" name="Legend"/>
          <p:cNvSpPr txBox="1"/>
          <p:nvPr/>
        </p:nvSpPr>
        <p:spPr>
          <a:xfrm>
            <a:off x="571500" y="1933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none" cap="none" i="1" strike="noStrike">
                <a:solidFill>
                  <a:srgbClr val="64748B"/>
                </a:solidFill>
                <a:latin typeface="Lato"/>
                <a:ea typeface="Lato"/>
                <a:cs typeface="Lato"/>
              </a:rPr>
              <a:t>1 = Discordo totalmente  •  3 = Neutro  •  5 = Concordo totalmente</a:t>
            </a:r>
          </a:p>
        </p:txBody>
      </p:sp>
      <p:sp>
        <p:nvSpPr>
          <p:cNvPr id="406" name="LQ"/>
          <p:cNvSpPr txBox="1"/>
          <p:nvPr/>
        </p:nvSpPr>
        <p:spPr>
          <a:xfrm>
            <a:off x="571500" y="2133600"/>
            <a:ext cx="5486400" cy="3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pt-BR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Q1  </a:t>
            </a:r>
            <a:r>
              <a:rPr lang="pt-BR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Consegui registrar meu treino sem dificuldades.</a:t>
            </a:r>
            <a:r>
              <a:rPr b="1" lang="pt-BR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</a:rPr>
              <a:t xml:space="preserve">   1 ⭕ 2 ⭕ 3 ⭕ 4 ⭕ 5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pt-BR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Q2  </a:t>
            </a:r>
            <a:r>
              <a:rPr lang="pt-BR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Os termos (FS, WS, 1RM) foram compreensíveis.</a:t>
            </a:r>
            <a:r>
              <a:rPr b="1" lang="pt-BR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</a:rPr>
              <a:t xml:space="preserve">   1 ⭕ 2 ⭕ 3 ⭕ 4 ⭕ 5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pt-BR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Q3  </a:t>
            </a:r>
            <a:r>
              <a:rPr lang="pt-BR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O módulo Calendário foi intuitivo de usar.</a:t>
            </a:r>
            <a:r>
              <a:rPr b="1" lang="pt-BR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</a:rPr>
              <a:t xml:space="preserve">   1 ⭕ 2 ⭕ 3 ⭕ 4 ⭕ 5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pt-BR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Q4  </a:t>
            </a:r>
            <a:r>
              <a:rPr lang="pt-BR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Encontrei o que precisava sem me perder nas telas.</a:t>
            </a:r>
            <a:r>
              <a:rPr b="1" lang="pt-BR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</a:rPr>
              <a:t xml:space="preserve">   1 ⭕ 2 ⭕ 3 ⭕ 4 ⭕ 5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pt-BR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Q5  </a:t>
            </a:r>
            <a:r>
              <a:rPr lang="pt-BR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Usaria o GYM GAIN regularmente em meus treinos.</a:t>
            </a:r>
            <a:r>
              <a:rPr b="1" lang="pt-BR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</a:rPr>
              <a:t xml:space="preserve">   1 ⭕ 2 ⭕ 3 ⭕ 4 ⭕ 5</a:t>
            </a:r>
          </a:p>
        </p:txBody>
      </p:sp>
      <p:sp>
        <p:nvSpPr>
          <p:cNvPr id="407" name="Sep"/>
          <p:cNvSpPr>
            <a:spLocks noChangeArrowheads="1"/>
          </p:cNvSpPr>
          <p:nvPr/>
        </p:nvSpPr>
        <p:spPr>
          <a:xfrm>
            <a:off x="6248700" y="1552800"/>
            <a:ext cx="63500" cy="42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8" name="RH"/>
          <p:cNvSpPr txBox="1"/>
          <p:nvPr/>
        </p:nvSpPr>
        <p:spPr>
          <a:xfrm>
            <a:off x="6477000" y="1552800"/>
            <a:ext cx="514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 u="none" cap="none" strike="noStrike">
                <a:solidFill>
                  <a:srgbClr val="FF6B00"/>
                </a:solidFill>
                <a:latin typeface="Urbanist SemiBold"/>
                <a:ea typeface="Urbanist SemiBold"/>
                <a:cs typeface="Urbanist SemiBold"/>
              </a:rPr>
              <a:t>■  Perguntas Abertas</a:t>
            </a:r>
          </a:p>
        </p:txBody>
      </p:sp>
      <p:sp>
        <p:nvSpPr>
          <p:cNvPr id="409" name="RQ"/>
          <p:cNvSpPr txBox="1"/>
          <p:nvPr/>
        </p:nvSpPr>
        <p:spPr>
          <a:xfrm>
            <a:off x="6477000" y="1933800"/>
            <a:ext cx="5143500" cy="3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b="1" lang="pt-BR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Q6  </a:t>
            </a:r>
            <a:r>
              <a:rPr lang="pt-BR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Qual foi a maior dificuldade durante o uso?</a:t>
            </a:r>
          </a:p>
          <a:p>
            <a:pPr indent="0" marL="228600" algn="l">
              <a:spcBef>
                <a:spcPts val="0"/>
              </a:spcBef>
              <a:spcAft>
                <a:spcPts val="1100"/>
              </a:spcAft>
              <a:buNone/>
            </a:pPr>
            <a:r>
              <a:rPr lang="pt-BR" sz="1200" u="none" cap="none" i="1" strike="noStrike">
                <a:solidFill>
                  <a:srgbClr val="334155"/>
                </a:solidFill>
                <a:latin typeface="Lato"/>
                <a:ea typeface="Lato"/>
                <a:cs typeface="Lato"/>
              </a:rPr>
              <a:t>_________________________________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b="1" lang="pt-BR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Q7  </a:t>
            </a:r>
            <a:r>
              <a:rPr lang="pt-BR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O que você mudaria na interface do aplicativo?</a:t>
            </a:r>
          </a:p>
          <a:p>
            <a:pPr indent="0" marL="228600" algn="l">
              <a:spcBef>
                <a:spcPts val="0"/>
              </a:spcBef>
              <a:spcAft>
                <a:spcPts val="1100"/>
              </a:spcAft>
              <a:buNone/>
            </a:pPr>
            <a:r>
              <a:rPr lang="pt-BR" sz="1200" u="none" cap="none" i="1" strike="noStrike">
                <a:solidFill>
                  <a:srgbClr val="334155"/>
                </a:solidFill>
                <a:latin typeface="Lato"/>
                <a:ea typeface="Lato"/>
                <a:cs typeface="Lato"/>
              </a:rPr>
              <a:t>_________________________________</a:t>
            </a:r>
          </a:p>
          <a:p>
            <a:pPr indent="0" marL="0" algn="l">
              <a:lnSpc>
                <a:spcPct val="14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b="1" lang="pt-BR" sz="1350" u="none" cap="none" strike="noStrike">
                <a:solidFill>
                  <a:srgbClr val="FF6B00"/>
                </a:solidFill>
                <a:latin typeface="Lato"/>
                <a:ea typeface="Lato"/>
                <a:cs typeface="Lato"/>
              </a:rPr>
              <a:t xml:space="preserve">Q8  </a:t>
            </a:r>
            <a:r>
              <a:rPr lang="pt-BR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</a:rPr>
              <a:t>Alguma funcionalidade que você sentiu falta?</a:t>
            </a:r>
          </a:p>
          <a:p>
            <a:pPr indent="0" marL="22860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none" cap="none" i="1" strike="noStrike">
                <a:solidFill>
                  <a:srgbClr val="334155"/>
                </a:solidFill>
                <a:latin typeface="Lato"/>
                <a:ea typeface="Lato"/>
                <a:cs typeface="Lato"/>
              </a:rPr>
              <a:t>_________________________________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